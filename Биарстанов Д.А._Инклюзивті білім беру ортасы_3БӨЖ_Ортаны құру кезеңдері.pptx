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c2acc04d334b7d" /><Relationship Type="http://schemas.openxmlformats.org/officeDocument/2006/relationships/extended-properties" Target="/docProps/app.xml" Id="R3dd83db951f843a2" /><Relationship Type="http://schemas.openxmlformats.org/officeDocument/2006/relationships/officeDocument" Target="/ppt/presentation.xml" Id="R3abf3342e3cc44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6c9ef930884be1"/>
  </p:sldMasterIdLst>
  <p:notesMasterIdLst>
    <p:notesMasterId xmlns:r="http://schemas.openxmlformats.org/officeDocument/2006/relationships" r:id="R15f73897801a4d38"/>
  </p:notesMasterIdLst>
  <p:sldIdLst>
    <p:sldId xmlns:r="http://schemas.openxmlformats.org/officeDocument/2006/relationships" id="256" r:id="Racf4385106d54b3a"/>
    <p:sldId xmlns:r="http://schemas.openxmlformats.org/officeDocument/2006/relationships" id="257" r:id="R4f6a3d970e164bb0"/>
    <p:sldId xmlns:r="http://schemas.openxmlformats.org/officeDocument/2006/relationships" id="258" r:id="R1631356504cd4940"/>
    <p:sldId xmlns:r="http://schemas.openxmlformats.org/officeDocument/2006/relationships" id="259" r:id="R1d1effe92d794cd9"/>
    <p:sldId xmlns:r="http://schemas.openxmlformats.org/officeDocument/2006/relationships" id="260" r:id="R9fe369e0288340c6"/>
    <p:sldId xmlns:r="http://schemas.openxmlformats.org/officeDocument/2006/relationships" id="261" r:id="R2697f12e51b64e2f"/>
    <p:sldId xmlns:r="http://schemas.openxmlformats.org/officeDocument/2006/relationships" id="262" r:id="R8a7e19d30e2e4c21"/>
    <p:sldId xmlns:r="http://schemas.openxmlformats.org/officeDocument/2006/relationships" id="263" r:id="Rd78df9a7cc12457a"/>
    <p:sldId xmlns:r="http://schemas.openxmlformats.org/officeDocument/2006/relationships" id="264" r:id="Ra394eeeb00a84f36"/>
    <p:sldId xmlns:r="http://schemas.openxmlformats.org/officeDocument/2006/relationships" id="265" r:id="Rff24ccebb1e64b9f"/>
    <p:sldId xmlns:r="http://schemas.openxmlformats.org/officeDocument/2006/relationships" id="266" r:id="R788c9168b772425f"/>
    <p:sldId xmlns:r="http://schemas.openxmlformats.org/officeDocument/2006/relationships" id="267" r:id="R1ee0233050f54b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481a215f6049d2" /><Relationship Type="http://schemas.openxmlformats.org/officeDocument/2006/relationships/slideMaster" Target="/ppt/slideMasters/slideMaster1.xml" Id="R7e6c9ef930884be1" /><Relationship Type="http://schemas.openxmlformats.org/officeDocument/2006/relationships/notesMaster" Target="/ppt/notesMasters/notesMaster1.xml" Id="R15f73897801a4d38" /><Relationship Type="http://schemas.openxmlformats.org/officeDocument/2006/relationships/presProps" Target="/ppt/presProps.xml" Id="R1c4a1842646e4ef5" /><Relationship Type="http://schemas.openxmlformats.org/officeDocument/2006/relationships/tableStyles" Target="/ppt/tableStyles.xml" Id="R8415fd79aa1d4460" /><Relationship Type="http://schemas.openxmlformats.org/officeDocument/2006/relationships/slide" Target="/ppt/slides/slide1.xml" Id="Racf4385106d54b3a" /><Relationship Type="http://schemas.openxmlformats.org/officeDocument/2006/relationships/slide" Target="/ppt/slides/slide2.xml" Id="R4f6a3d970e164bb0" /><Relationship Type="http://schemas.openxmlformats.org/officeDocument/2006/relationships/slide" Target="/ppt/slides/slide3.xml" Id="R1631356504cd4940" /><Relationship Type="http://schemas.openxmlformats.org/officeDocument/2006/relationships/slide" Target="/ppt/slides/slide4.xml" Id="R1d1effe92d794cd9" /><Relationship Type="http://schemas.openxmlformats.org/officeDocument/2006/relationships/slide" Target="/ppt/slides/slide5.xml" Id="R9fe369e0288340c6" /><Relationship Type="http://schemas.openxmlformats.org/officeDocument/2006/relationships/slide" Target="/ppt/slides/slide6.xml" Id="R2697f12e51b64e2f" /><Relationship Type="http://schemas.openxmlformats.org/officeDocument/2006/relationships/slide" Target="/ppt/slides/slide7.xml" Id="R8a7e19d30e2e4c21" /><Relationship Type="http://schemas.openxmlformats.org/officeDocument/2006/relationships/slide" Target="/ppt/slides/slide8.xml" Id="Rd78df9a7cc12457a" /><Relationship Type="http://schemas.openxmlformats.org/officeDocument/2006/relationships/slide" Target="/ppt/slides/slide9.xml" Id="Ra394eeeb00a84f36" /><Relationship Type="http://schemas.openxmlformats.org/officeDocument/2006/relationships/slide" Target="/ppt/slides/slide10.xml" Id="Rff24ccebb1e64b9f" /><Relationship Type="http://schemas.openxmlformats.org/officeDocument/2006/relationships/slide" Target="/ppt/slides/slide11.xml" Id="R788c9168b772425f" /><Relationship Type="http://schemas.openxmlformats.org/officeDocument/2006/relationships/slide" Target="/ppt/slides/slide12.xml" Id="R1ee0233050f54b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bc466d3dc44a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d4c403a2844a67" /><Relationship Type="http://schemas.openxmlformats.org/officeDocument/2006/relationships/notesMaster" Target="/ppt/notesMasters/notesMaster1.xml" Id="R0fddf693337244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40b9efebd5439a" /><Relationship Type="http://schemas.openxmlformats.org/officeDocument/2006/relationships/notesMaster" Target="/ppt/notesMasters/notesMaster1.xml" Id="Rf7aba05c58754a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5f4cb2946a4d29" /><Relationship Type="http://schemas.openxmlformats.org/officeDocument/2006/relationships/notesMaster" Target="/ppt/notesMasters/notesMaster1.xml" Id="R35d05a51af7e4b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bf7a2afe4f4b65" /><Relationship Type="http://schemas.openxmlformats.org/officeDocument/2006/relationships/notesMaster" Target="/ppt/notesMasters/notesMaster1.xml" Id="R3d75afe5463b4e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d93189600a4555" /><Relationship Type="http://schemas.openxmlformats.org/officeDocument/2006/relationships/notesMaster" Target="/ppt/notesMasters/notesMaster1.xml" Id="Rf932fd931d6e41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b4408ae4ba4cff" /><Relationship Type="http://schemas.openxmlformats.org/officeDocument/2006/relationships/notesMaster" Target="/ppt/notesMasters/notesMaster1.xml" Id="R150a6881074943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f1a96a15e44d16" /><Relationship Type="http://schemas.openxmlformats.org/officeDocument/2006/relationships/notesMaster" Target="/ppt/notesMasters/notesMaster1.xml" Id="Re7eb9974667341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a7dd53ee6c4d4d" /><Relationship Type="http://schemas.openxmlformats.org/officeDocument/2006/relationships/notesMaster" Target="/ppt/notesMasters/notesMaster1.xml" Id="R41908080a4984d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6ebc61f75c4b92" /><Relationship Type="http://schemas.openxmlformats.org/officeDocument/2006/relationships/notesMaster" Target="/ppt/notesMasters/notesMaster1.xml" Id="Rdd4f1da2ad5847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657bf983714279" /><Relationship Type="http://schemas.openxmlformats.org/officeDocument/2006/relationships/notesMaster" Target="/ppt/notesMasters/notesMaster1.xml" Id="R09123c087fd64fd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eb674479644aab" /><Relationship Type="http://schemas.openxmlformats.org/officeDocument/2006/relationships/notesMaster" Target="/ppt/notesMasters/notesMaster1.xml" Id="R982387afc9a34cf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2085623775d4e29" /><Relationship Type="http://schemas.openxmlformats.org/officeDocument/2006/relationships/notesMaster" Target="/ppt/notesMasters/notesMaster1.xml" Id="R263158d827ed4b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Силлабус 3.3: білім беру ұйымында инклюзивті ортаны құру кезеңдерін сипаттау. Word үлгісінің логотипі, қарпі, көк тақырыптары және автор деректері қолданылды.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Дереккөздер: https://www.eenet.org.uk/resources/docs/Index%20English.pdf</a:t>
            </a:r>
          </a:p>
          <a:p xmlns:a="http://schemas.openxmlformats.org/drawingml/2006/main">
            <a:r>
              <a:t>https://old.adilet.zan.kz/kaz/docs/V2200026618/compare</a:t>
            </a:r>
          </a:p>
          <a:p xmlns:a="http://schemas.openxmlformats.org/drawingml/2006/main">
            <a:r>
              <a:t>Тексерілген күні: 02.10.2026. Кезеңдер — педагогикалық ұйымдастыру үлгісі.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Дереккөздер: https://www.eenet.org.uk/resources/docs/Index%20English.pdf</a:t>
            </a:r>
          </a:p>
          <a:p xmlns:a="http://schemas.openxmlformats.org/drawingml/2006/main">
            <a:r>
              <a:t>Тексерілген күні: 02.10.2026. Кезеңдер — педагогикалық ұйымдастыру үлгісі.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Дереккөздер: https://old.adilet.zan.kz/kaz/docs/V2200026618/compare</a:t>
            </a:r>
          </a:p>
          <a:p xmlns:a="http://schemas.openxmlformats.org/drawingml/2006/main">
            <a:r>
              <a:t>Тексерілген күні: 02.10.2026. Кезеңдер — педагогикалық ұйымдастыру үлгісі.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Дереккөздер: https://old.adilet.zan.kz/kaz/docs/V2500036047</a:t>
            </a:r>
          </a:p>
          <a:p xmlns:a="http://schemas.openxmlformats.org/drawingml/2006/main">
            <a:r>
              <a:t>Тексерілген күні: 02.10.2026. Кезеңдер — педагогикалық ұйымдастыру үлгісі.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Дереккөздер: https://udlguidelines.cast.org/</a:t>
            </a:r>
          </a:p>
          <a:p xmlns:a="http://schemas.openxmlformats.org/drawingml/2006/main">
            <a:r>
              <a:t>https://old.adilet.zan.kz/kaz/docs/V2200026618/compare</a:t>
            </a:r>
          </a:p>
          <a:p xmlns:a="http://schemas.openxmlformats.org/drawingml/2006/main">
            <a:r>
              <a:t>Тексерілген күні: 02.10.2026. Кезеңдер — педагогикалық ұйымдастыру үлгісі.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Дереккөздер: https://old.adilet.zan.kz/kaz/docs/V2500036047</a:t>
            </a:r>
          </a:p>
          <a:p xmlns:a="http://schemas.openxmlformats.org/drawingml/2006/main">
            <a:r>
              <a:t>Тексерілген күні: 02.10.2026. Кезеңдер — педагогикалық ұйымдастыру үлгісі.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Дереккөздер: https://www.eenet.org.uk/resources/docs/Index%20English.pdf</a:t>
            </a:r>
          </a:p>
          <a:p xmlns:a="http://schemas.openxmlformats.org/drawingml/2006/main">
            <a:r>
              <a:t>Тексерілген күні: 02.10.2026. Кезеңдер — педагогикалық ұйымдастыру үлгісі.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Дереккөздер: https://old.adilet.zan.kz/kaz/docs/V2200026618/compare</a:t>
            </a:r>
          </a:p>
          <a:p xmlns:a="http://schemas.openxmlformats.org/drawingml/2006/main">
            <a:r>
              <a:t>https://old.adilet.zan.kz/kaz/docs/V2500036047</a:t>
            </a:r>
          </a:p>
          <a:p xmlns:a="http://schemas.openxmlformats.org/drawingml/2006/main">
            <a:r>
              <a:t>Тексерілген күні: 02.10.2026. Кезеңдер — педагогикалық ұйымдастыру үлгісі.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Дереккөздер: https://www.eenet.org.uk/resources/docs/Index%20English.pdf</a:t>
            </a:r>
          </a:p>
          <a:p xmlns:a="http://schemas.openxmlformats.org/drawingml/2006/main">
            <a:r>
              <a:t>https://udlguidelines.cast.org/</a:t>
            </a:r>
          </a:p>
          <a:p xmlns:a="http://schemas.openxmlformats.org/drawingml/2006/main">
            <a:r>
              <a:t>Тексерілген күні: 02.10.2026. Кезеңдер — педагогикалық ұйымдастыру үлгісі.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Бұл — авторлық педагогикалық мысал, нақты сабақта өткізілген зерттеу емес. Әдістемелік бағдар: https://udlguidelines.cast.org/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Дереккөздер: </a:t>
            </a:r>
          </a:p>
          <a:p xmlns:a="http://schemas.openxmlformats.org/drawingml/2006/main">
            <a:r>
              <a:t>Тексерілген күні: 02.10.2026. Кезеңдер — педагогикалық ұйымдастыру үлгісі.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361d35d03240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69f86977aa4c76" /><Relationship Type="http://schemas.openxmlformats.org/officeDocument/2006/relationships/slideLayout" Target="/ppt/slideLayouts/slideLayout1.xml" Id="Rad60b3c03b694e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60b3c03b694e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45c3862274c1f" /><Relationship Type="http://schemas.openxmlformats.org/officeDocument/2006/relationships/image" Target="/ppt/media/image.jpeg" Id="Rc157ff2e850247a2" /><Relationship Type="http://schemas.openxmlformats.org/officeDocument/2006/relationships/notesSlide" Target="/ppt/notesSlides/notesSlide1.xml" Id="R7da78debdaa146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bf9ca7e504f94" /><Relationship Type="http://schemas.openxmlformats.org/officeDocument/2006/relationships/notesSlide" Target="/ppt/notesSlides/notesSlide2.xml" Id="Rd98f682395e242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ef1c2c8264065" /><Relationship Type="http://schemas.openxmlformats.org/officeDocument/2006/relationships/notesSlide" Target="/ppt/notesSlides/notesSlide3.xml" Id="R27ecc022b15844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25557b4034150" /><Relationship Type="http://schemas.openxmlformats.org/officeDocument/2006/relationships/notesSlide" Target="/ppt/notesSlides/notesSlide4.xml" Id="R17be4ebb21e040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cc8c1dc5a945a4" /><Relationship Type="http://schemas.openxmlformats.org/officeDocument/2006/relationships/notesSlide" Target="/ppt/notesSlides/notesSlide5.xml" Id="R4a5df9bb2f524f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0d415f24d4acc" /><Relationship Type="http://schemas.openxmlformats.org/officeDocument/2006/relationships/notesSlide" Target="/ppt/notesSlides/notesSlide6.xml" Id="R86c115ba55c847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b6038369e4f6a" /><Relationship Type="http://schemas.openxmlformats.org/officeDocument/2006/relationships/notesSlide" Target="/ppt/notesSlides/notesSlide7.xml" Id="Rc5d35e06eb4d4f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659aaa952246f5" /><Relationship Type="http://schemas.openxmlformats.org/officeDocument/2006/relationships/notesSlide" Target="/ppt/notesSlides/notesSlide8.xml" Id="Rae828090930048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8d096cf8847cd" /><Relationship Type="http://schemas.openxmlformats.org/officeDocument/2006/relationships/notesSlide" Target="/ppt/notesSlides/notesSlide9.xml" Id="R785ed46d88fa4f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82fbfdb5e4529" /><Relationship Type="http://schemas.openxmlformats.org/officeDocument/2006/relationships/notesSlide" Target="/ppt/notesSlides/notesSlide10.xml" Id="R82b3445608b9445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b2920dd4f4bbf" /><Relationship Type="http://schemas.openxmlformats.org/officeDocument/2006/relationships/notesSlide" Target="/ppt/notesSlides/notesSlide11.xml" Id="R597d90ef54e04a8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28d74edef42dc" /><Relationship Type="http://schemas.openxmlformats.org/officeDocument/2006/relationships/notesSlide" Target="/ppt/notesSlides/notesSlide12.xml" Id="R4c83bede4d5548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ACA996-7BE8-4C0C-9648-58C52A02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Абай атындағы Қазақ ұлттық педагогикалық университеті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A078FE-E22E-477D-B6F2-EB4F3C10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Ақпараттық технологиялар және жасанды интелект факультеті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7ff2e850247a2"/>
          <a:stretch xmlns:a="http://schemas.openxmlformats.org/drawingml/2006/main"/>
        </p:blipFill>
        <p:spPr>
          <a:xfrm xmlns:a="http://schemas.openxmlformats.org/drawingml/2006/main">
            <a:off x="4667250" y="1351269"/>
            <a:ext cx="2857500" cy="116461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CA548A-1BCD-4AB4-8683-0CC22E0C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10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БӨЖ3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2B0236-F356-4329-869E-D8DC31DE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Инклюзивті білім беру ортасын құрудың кезеңдері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4416C-4BDC-4446-9CA3-52A51224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Пәні: Инклюзивті білім беру ортасы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E8BC90-E90C-4617-854F-4E61FBB1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381625"/>
            <a:ext cx="4171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Орындаған: Биарстанов Д.А.</a:t>
            </a:r>
          </a:p>
          <a:p xmlns:a="http://schemas.openxmlformats.org/drawingml/2006/main">
            <a:pPr algn="l">
              <a:defRPr sz="1875" b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Тексерген: Жаканбаева Б.Б.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9848C1-29C9-4F95-AB3D-67C14A2C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Алматы 2026ж</a:t>
            </a:r>
          </a:p>
        </p:txBody>
      </p:sp>
    </p:spTree>
    <p:extLst>
      <p:ext uri="{BB962C8B-B14F-4D97-AF65-F5344CB8AC3E}">
        <p14:creationId xmlns:p14="http://schemas.microsoft.com/office/powerpoint/2010/main" val="3320906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5B4047-82F7-417D-B065-2F4DF179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Мақсат және күтілетін нәтиже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0FD63F-65A8-48CD-9360-9DE63620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Инклюзивті білім беру ортасы • 3-апта • БӨЖ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EEAA0A-1054-412F-8EF4-EC641491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10390-F79E-4E67-B79D-863A8455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Мақсат — әр оқушының оқуға және мектеп өміріне қатысуына кедергі келтіретін жағдайларды азайту.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0BC2B8-5223-4E27-AE64-9E7F9194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3524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9D9D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E1EE7-22EB-468F-9208-65294097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90875"/>
            <a:ext cx="3067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Қолжетімділік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E466E-7701-485E-A71F-BD3D114E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30670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Оқушы бөлмеге, материалға және тапсырмаға қол жеткізе алады.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EF38AF-0C7D-4B11-B104-E123E86E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00375"/>
            <a:ext cx="3524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9D9D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083AE3-4083-4D29-A11E-C6CCE5E3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90875"/>
            <a:ext cx="3067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Қатысу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69024C-22B0-493E-9676-40F33982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57625"/>
            <a:ext cx="30670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Оқушы ортақ жұмысқа араласып, пікірін түсінікті тәсілмен білдіреді.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1CA119-9877-46DA-9487-1AF2846E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0375"/>
            <a:ext cx="3524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9D9D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2E6E0D-3EA4-4F71-BC9E-6A1A7D08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90875"/>
            <a:ext cx="3067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Ілгерілеу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B4F33B-AFDD-4E99-B4D0-27CB6697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57625"/>
            <a:ext cx="30670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Оқу мақсаты мен қолдау нәтижесі жүйелі бағаланып, қайта қаралады.</a:t>
            </a:r>
          </a:p>
        </p:txBody>
      </p:sp>
    </p:spTree>
    <p:extLst>
      <p:ext uri="{BB962C8B-B14F-4D97-AF65-F5344CB8AC3E}">
        <p14:creationId xmlns:p14="http://schemas.microsoft.com/office/powerpoint/2010/main" val="8387663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991F5C-4B58-478D-BB6D-CEA02880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Алты кезең бір циклге бірігеді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CA66C-0D79-457F-81BD-B57BDA94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Инклюзивті білім беру ортасы • 3-апта • БӨЖ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C0B299-5153-4D7B-9815-3104E72A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68580-0A7D-48A3-B448-38422AD7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524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9D9D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4C34A-5639-400F-B803-F663895E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98120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1 Қазіргі жағдайды талдау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E545C-133B-4A18-9721-8772BEBD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14500"/>
            <a:ext cx="3524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9D9D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1AE0EA-5DB4-4333-AE87-53B11D7D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98120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2 Мақсат пен жоспар құру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49417A-8147-4FC5-A1C8-E9D74ADD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0"/>
            <a:ext cx="3524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9D9D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E1CEE5-D0A8-47CE-99BB-42C24E0D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98120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3 Ортаны және оқытуды жобалау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BAFC08-D0D7-4C90-935E-6F89EA6B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3524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9D9D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C43BCF-D3B6-4725-A10D-946EAFD6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933825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4 Команда мен ресурсты дайындау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CA29B9-98CE-4D93-B96E-54DB7026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67125"/>
            <a:ext cx="3524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9D9D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0E0AA1-4AFF-4662-A579-A49CAB8A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933825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5 Өзгерісті іске асыру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D84B7A-50EF-4FAA-88C1-52C26E2E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67125"/>
            <a:ext cx="3524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9D9D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C31282-E035-49BD-88AC-70232E53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933825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6 Нәтижені бағалау және жаңарту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1FAAB7-1FB6-4C8C-B32D-C2AF993C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Бағалау нәтижесі келесі жоспарға қайта оралады. Ұсынылған кезеңдер мектеп жағдайына қарай нақтыланады.</a:t>
            </a:r>
          </a:p>
        </p:txBody>
      </p:sp>
    </p:spTree>
    <p:extLst>
      <p:ext uri="{BB962C8B-B14F-4D97-AF65-F5344CB8AC3E}">
        <p14:creationId xmlns:p14="http://schemas.microsoft.com/office/powerpoint/2010/main" val="10055406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3AA043-F747-445A-8744-70465B7E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1 кезең Қазіргі жағдайды талдау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CE461-8EBD-4832-A93D-392A9D5C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Инклюзивті білім беру ортасы • 3-апта • БӨЖ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132F18-6D2A-4AB6-A89E-AA985212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E0E14-D4CC-4F05-AAE6-6E5128E3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3524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9D9D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DA74F-9D4D-4D4E-9CA6-7A7B0062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3067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Не тексеріледі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4992AE-E99F-4FC7-8DA0-51D4A505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30670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Кіреберіс пен қозғалу жолы; тапсырма мен цифрлық материал; сыныптағы қарым-қатынас.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99078-B132-4F1D-BDCB-7C54B79D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95450"/>
            <a:ext cx="3524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9D9D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A7D44B-8768-416B-9A67-1938ED67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85950"/>
            <a:ext cx="3067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Кім қатысады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4B19B1-AD53-473A-855B-89118CB0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52750"/>
            <a:ext cx="30670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Мұғалім, ППҚҚ мамандары, ата-ана және оқушы. Терең бағалауда ата-ана келісімі сақталады.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16C849-ACB4-42BA-9298-39D1E225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95450"/>
            <a:ext cx="3524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9D9D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AF0000-0161-43AE-A51A-95AD9B62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85950"/>
            <a:ext cx="3067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Нәтиже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B289C3-9E73-4B57-BC62-AE617D22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52750"/>
            <a:ext cx="30670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Кедергілер тізімі: нақты жағдай, кімге әсер етеді, қандай қолдау қажет. Диагнозды мұғалім қоймайды.</a:t>
            </a:r>
          </a:p>
        </p:txBody>
      </p:sp>
    </p:spTree>
    <p:extLst>
      <p:ext uri="{BB962C8B-B14F-4D97-AF65-F5344CB8AC3E}">
        <p14:creationId xmlns:p14="http://schemas.microsoft.com/office/powerpoint/2010/main" val="10981397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42E9A0-4B9D-490D-B079-A50731CB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2 кезең Мақсат пен жұмыс жоспары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843A7-4F9C-4D3D-8A8B-1DE4CF7A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Инклюзивті білім беру ортасы • 3-апта • БӨЖ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F4339-5352-48E9-8E05-FC793BBF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0594EF-D9A2-49CA-9568-A318A6A6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3524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9D9D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748CA-18E3-4B98-A9AF-926BF1A5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3067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Мақсат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9F48A-EF69-4026-9EDA-25AEA505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30670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«Қолжетімділікті жақсарту» деген жалпы сөзді нақты әрекетке айналдыру: тапсырма барлық оқушыға оқылатын түрде беріледі.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59C07D-5D1A-4423-B911-D0B80F23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95450"/>
            <a:ext cx="3524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9D9D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69D40-D964-4D43-A42D-BFEC080E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85950"/>
            <a:ext cx="3067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Жоспар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9381B8-5105-4127-B24E-1F5154BD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52750"/>
            <a:ext cx="30670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Әр әрекетке жауапты адам, мерзім, қажетті ресурс және нәтиже дәлелі белгіленеді.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1F8BFA-4094-4244-88AC-3E6E9B93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95450"/>
            <a:ext cx="3524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9D9D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01732D-44B7-4749-ACCD-C4D28C00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85950"/>
            <a:ext cx="3067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Басымдық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250A6D-1F94-40EB-8F34-004DA078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52750"/>
            <a:ext cx="30670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Алдымен қауіпсіздік пен қатысуға тікелей кедергі келтіретін жағдайлар шешіледі. Ресурс жеткіліксіз болса, кезеңдер нақтыланады.</a:t>
            </a:r>
          </a:p>
        </p:txBody>
      </p:sp>
    </p:spTree>
    <p:extLst>
      <p:ext uri="{BB962C8B-B14F-4D97-AF65-F5344CB8AC3E}">
        <p14:creationId xmlns:p14="http://schemas.microsoft.com/office/powerpoint/2010/main" val="6186208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5A57BA-F11C-44F3-AEF1-0E2DE365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3 кезең Ортаны және оқытуды жобалау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064295-F518-4053-B3FE-7C8374CB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Инклюзивті білім беру ортасы • 3-апта • БӨЖ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5A1A8D-DCED-4E1F-9571-7157383A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20E649-DC18-4AD2-B151-781F65BE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3524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9D9D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79035D-616A-47D0-924E-E9B67711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3067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Физикалық орта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1BDC07-2B11-4407-B930-4702D2F3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30670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Қозғалу мен шығу жолын қолжетімді ету; қажетті жұмыс орнын және құралды маманмен бірге таңдау.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E6E56C-599B-498F-90D1-0E9BC063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95450"/>
            <a:ext cx="3524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9D9D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837C1-5EFC-4A51-A9B7-376B00BF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85950"/>
            <a:ext cx="3067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Ақпарат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2A75BA-CE9C-4C97-A15B-4E716462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52750"/>
            <a:ext cx="30670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Түсінікті құрылым, оқылатын мәтін, сурет сипаттамасы және бейне субтитрі. Ресурсты нақты пайдаланушы тексереді.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339AB-0172-4FCA-8F06-CB4EF68E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95450"/>
            <a:ext cx="3524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9D9D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A39B8C-E662-454C-AB5C-45D3AA3E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85950"/>
            <a:ext cx="3067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Сабақ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AAEEE7-B8E2-4623-8BA7-0D489D02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52750"/>
            <a:ext cx="30670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Оқу ақпаратын қабылдау мен жауап берудің бірнеше тәсілін ұсыну. Оқу мақсатын өзгерту қажеттілігі бөлек қаралады.</a:t>
            </a:r>
          </a:p>
        </p:txBody>
      </p:sp>
    </p:spTree>
    <p:extLst>
      <p:ext uri="{BB962C8B-B14F-4D97-AF65-F5344CB8AC3E}">
        <p14:creationId xmlns:p14="http://schemas.microsoft.com/office/powerpoint/2010/main" val="14306008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8B2959-53B6-420C-B543-BAEA183F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4 кезең Команда және ресурстар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0EA29-FA6E-4E0C-9E77-97DE507D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Инклюзивті білім беру ортасы • 3-апта • БӨЖ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5AF1BE-9D49-447B-B197-8CB03BBC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097EF-A820-49D7-AFF6-3394DCD1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3524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9D9D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ACBF2-D4DD-4E33-9CD4-43BBB5CB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3067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Пән мұғалімі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8E175B-90C0-41C3-86A8-82F110F1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30670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Оқу мақсатын, тапсырманы және бағалау дәлелін анықтайды. Мамандармен бейімдеу тәсілін келіседі.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63859A-62EE-4260-9303-33584AEF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95450"/>
            <a:ext cx="3524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9D9D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0DA6A3-5D37-4CED-81EF-3FAABC37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85950"/>
            <a:ext cx="3067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ППҚҚ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A6CF94-5430-4A0C-8F7E-E1445A29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52750"/>
            <a:ext cx="30670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Қажетті қолдауды үйлестіреді, мамандар міндетін байланыстырады, нәтижені қайта қарауға қатысады.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05B93C-D725-4579-9A6C-3BCEBC0A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95450"/>
            <a:ext cx="3524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9D9D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A6877F-50B9-4EF2-8590-EB5D4DAB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85950"/>
            <a:ext cx="3067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Отбасы мен оқушы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F5E4CA-4D5E-4048-A7DF-AB122047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52750"/>
            <a:ext cx="30670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Күнделікті қиындықтар, қолайлы тәсілдер және ілгерілеу туралы ақпарат береді. Құпиялылық сақталады.</a:t>
            </a:r>
          </a:p>
        </p:txBody>
      </p:sp>
    </p:spTree>
    <p:extLst>
      <p:ext uri="{BB962C8B-B14F-4D97-AF65-F5344CB8AC3E}">
        <p14:creationId xmlns:p14="http://schemas.microsoft.com/office/powerpoint/2010/main" val="20480745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0004B1-781C-44AD-89F1-C81F53F1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5 кезең Өзгерісті іске асыру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163C0D-1D55-4766-BE7E-5CA764A5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Инклюзивті білім беру ортасы • 3-апта • БӨЖ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8FD630-1D51-49F7-8F9E-1A2A9430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E98C7-654A-46E2-A338-4F4EC0CD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Шағын әрекеттен бастап, сабақта қолдану және нәтижені тіркеу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553AE-563E-4853-9D98-3E207BE9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3524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9D9D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AB15F-226A-4723-9F31-224FBBC4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3067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Дайындау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E44F43-C061-45F7-A877-DA1A9E0C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30670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Мұғалім тапсырманың қолжетімді нұсқасын жасайды. Оқушы оны қолдану тәсілін түсінеді.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A21917-28C8-451B-9AA6-4549AFF5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76500"/>
            <a:ext cx="3524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9D9D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FBF83D-70BC-46F1-9361-6721BEDB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67000"/>
            <a:ext cx="3067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Қолдану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AFAAC2-6725-4E4F-88E0-005FAFC6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33750"/>
            <a:ext cx="30670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Ортақ жұптық немесе топтық жұмыста рөлдер нақты беріледі. Көмек оқушының орнына орындауға айналмайды.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CC82EF-3606-4B51-84A6-CC47FFA4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76500"/>
            <a:ext cx="3524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9D9D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99439-4E44-445B-9CB3-883919EC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67000"/>
            <a:ext cx="3067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Тіркеу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AE178F-17C0-47B4-9FE0-7235014F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33750"/>
            <a:ext cx="30670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Қандай қолдау қолданылды, бала не істеді, қай жерде қиындық сақталды — қысқа жазылады.</a:t>
            </a:r>
          </a:p>
        </p:txBody>
      </p:sp>
    </p:spTree>
    <p:extLst>
      <p:ext uri="{BB962C8B-B14F-4D97-AF65-F5344CB8AC3E}">
        <p14:creationId xmlns:p14="http://schemas.microsoft.com/office/powerpoint/2010/main" val="14227532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5EC8FB-4B2B-459B-A5A2-27777546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6 кезең Бағалау және қайта жоспарлау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EFAD8-F573-483E-87CE-BA8A4C08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Инклюзивті білім беру ортасы • 3-апта • БӨЖ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F8CEC-EA22-42E0-A5A5-E1FFD741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D97898-88E0-40F1-A9F6-9CCD6DFC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3524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9D9D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01686C-B6D0-4604-AC8E-6AB807DC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3067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Дәлел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E66244-D960-47E5-8489-D99215AD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30670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Тапсырмаға қатысу, түсіну, дербестік, жауап беру және оқу нәтижесі бастапқы жағдаймен салыстырылады.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5D072-40D0-4085-A2D2-4D57ADAF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95450"/>
            <a:ext cx="3524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9D9D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1F5A18-51CD-4796-9602-358F3391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85950"/>
            <a:ext cx="3067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Кері байланыс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45B600-4598-4DA8-B395-F0D517AC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52750"/>
            <a:ext cx="30670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Оқушы мен ата-анаға өзгерістің әсерін түсінікті сұрақтармен талқылау ұсынылады.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98040A-7DE0-47E5-A153-48C9649C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95450"/>
            <a:ext cx="3524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9D9D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DE3F1B-23E1-4BB8-B7FC-A385D030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85950"/>
            <a:ext cx="3067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Келесі қадам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72F04A-0255-41A6-A083-4A9D8FAE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52750"/>
            <a:ext cx="30670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Нәтижелі қолдау сақталады. Қиындық қалса, тәсіл, ресурс немесе мақсат қайта қаралады. Қажет кезде қосымша бағалау жүргізіледі.</a:t>
            </a:r>
          </a:p>
        </p:txBody>
      </p:sp>
    </p:spTree>
    <p:extLst>
      <p:ext uri="{BB962C8B-B14F-4D97-AF65-F5344CB8AC3E}">
        <p14:creationId xmlns:p14="http://schemas.microsoft.com/office/powerpoint/2010/main" val="17766045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0BD15C-12FE-419E-8F7F-9808982B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Кедергісіз орта өзара байланысты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82E97-1845-4A50-B647-861769F1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Инклюзивті білім беру ортасы • 3-апта • БӨЖ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393D53-3860-4A53-8933-25C53150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FE30E-004D-4056-BEBB-DEB0F6E8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3524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9D9D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4F4E38-8CCE-4558-84E8-5256BDAB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3067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Кеңістік пен ақпарат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6B3A9-E585-41DB-8D6D-517A019F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30670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Қолжетімді қозғалу; қауіпсіз шығу; оқылатын мәтін; экраннан оқылатын файл; субтитр.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709E9-B06B-43BD-8401-4E88EF78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95450"/>
            <a:ext cx="3524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9D9D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465001-B17A-4E30-9776-90A49FCB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85950"/>
            <a:ext cx="3067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Оқыту мен байланыс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7AC10-BF0F-4ED9-81CF-91696385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52750"/>
            <a:ext cx="30670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Түсінікті нұсқаулық; бірнеше жауап тәсілі; құрметті тіл; оқушының пікірін тыңдау.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FA8230-2028-4558-BA27-D0670328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95450"/>
            <a:ext cx="3524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9D9D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8F2AF-18D5-4A2F-A2DC-A248675D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85950"/>
            <a:ext cx="3067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Қолдау мен қауіпсіздік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714331-F423-4A0E-AE22-5B3F6748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52750"/>
            <a:ext cx="30670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Мамандар бірлесуі; ата-ана серіктестігі; буллингке жауап; құпиялылық; нәтиже мониторингі.</a:t>
            </a:r>
          </a:p>
        </p:txBody>
      </p:sp>
    </p:spTree>
    <p:extLst>
      <p:ext uri="{BB962C8B-B14F-4D97-AF65-F5344CB8AC3E}">
        <p14:creationId xmlns:p14="http://schemas.microsoft.com/office/powerpoint/2010/main" val="19138213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864D2C-1E1A-4EAA-A141-0689BCB4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Қолдану мысалы Информатика сабағы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AFD2C-B692-4FBB-BCBE-C684DD14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Инклюзивті білім беру ортасы • 3-апта • БӨЖ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E93F2-0EF0-4E6F-96B0-CC4978AF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A1D896-2D5C-46EA-8445-D56FBF6F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Оқу мақсаты: шартқа байланысты алгоритм тармағын түсіндіру.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35F2B-343C-4C67-A3EE-EA58C8B4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3524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9D9D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AFF406-4DC1-4E4A-8E61-3B29B524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3067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Кедергі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F23F33-C537-45FC-8648-B511A784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30670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Ұзақ нұсқаулық пен кодты теру қиындығы оқушының ойын көрсетуіне кедергі келтіреді.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11594D-FB1D-40EE-88F1-306A7E71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76500"/>
            <a:ext cx="3524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9D9D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25D14D-7AF7-4E2F-8497-39F9D1BF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67000"/>
            <a:ext cx="3067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Шешім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CCFC4E-0DCF-4C8C-B950-1233C58B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33750"/>
            <a:ext cx="30670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Нұсқаулық қадамдарға бөлінеді; дайын блоктар ұсынылады; алгоритмді ауызша түсіндіруге мүмкіндік беріледі.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9520B-D237-4948-976E-A1E3AF01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76500"/>
            <a:ext cx="3524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9D9D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085BE0-AA09-48E8-8279-F8BC690B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67000"/>
            <a:ext cx="3067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Бағалау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649DEF-C568-45BC-9FD8-5410B427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33750"/>
            <a:ext cx="30670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Дұрыс тармақты таңдауы және себебін түсіндіруі бағаланады. Қолдау деңгейі келесі сабақта қайта қаралады.</a:t>
            </a:r>
          </a:p>
        </p:txBody>
      </p:sp>
    </p:spTree>
    <p:extLst>
      <p:ext uri="{BB962C8B-B14F-4D97-AF65-F5344CB8AC3E}">
        <p14:creationId xmlns:p14="http://schemas.microsoft.com/office/powerpoint/2010/main" val="6017096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E0520-1EA7-443C-B280-6B69E109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Пайдаланылған әдебиеттер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6F81C-BED3-454B-87B5-75ECBCA0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Инклюзивті білім беру ортасы • 3-апта • БӨЖ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3084D-CC92-4893-9202-444DA1BD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8365D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37834-60DE-49A8-9765-027499F4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1. ЕБҚ бағалау қағидалары мен бағдарламалары. 12.01.2022 №4 бұйрық.</a:t>
            </a:r>
          </a:p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https://old.adilet.zan.kz/kaz/docs/V2200026618/compare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2. ППҚҚ жұмыс істеу қағидалары. 29.04.2025 №92 бұйрық.</a:t>
            </a:r>
          </a:p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https://old.adilet.zan.kz/kaz/docs/V2500036047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3. Booth T., Ainscow M. Index for Inclusion. CSIE, 2002.</a:t>
            </a:r>
          </a:p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https://www.eenet.org.uk/resources/docs/Index%20English.pdf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4. CAST. UDL Guidelines version 3.0. 2024.</a:t>
            </a:r>
          </a:p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https://udlguidelines.cast.org/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BD021-1867-4622-B539-4B637672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Дереккөздерге жүгінген күн: 02.10.2026.</a:t>
            </a:r>
          </a:p>
        </p:txBody>
      </p:sp>
    </p:spTree>
    <p:extLst>
      <p:ext uri="{BB962C8B-B14F-4D97-AF65-F5344CB8AC3E}">
        <p14:creationId xmlns:p14="http://schemas.microsoft.com/office/powerpoint/2010/main" val="11628352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2026-10-02T18:54:06.4680000Z</dcterms:created>
  <dcterms:modified xsi:type="dcterms:W3CDTF">2026-10-02T18:54:06.4680000Z</dcterms:modified>
</coreProperties>
</file>